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AA7A3-558C-4D7A-AFA2-36BBEE3E0E96}" v="2210" dt="2026-03-24T20:19:28.127"/>
    <p1510:client id="{5BF942F3-DC15-893F-37A5-5EA7C2156158}" v="93" dt="2026-03-24T20:19:30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F10B-FC43-8B89-5CBB-F35403BC1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B8B98-D0A5-1087-391A-8A75790D2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FADA1-EC5F-0C56-CE16-514F28264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6D8A0-0BED-321A-CEBF-D016BB53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63129-4EB2-3544-58FB-A5672128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447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7425-06B7-69AF-E35C-38B57A21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6505E-CC10-350D-2134-A7F6BAF75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3D071-56BF-23B2-3C2F-4B700579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EB153-AF2B-93D1-20EB-19159C96C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7CDF6-41C3-3EEA-88E6-10F989CF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62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60AD-6A76-3527-192D-E0DBF2925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F9241-F304-1C12-F09E-9EEDDACC3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4C82-8917-4C54-6FFD-1B9E0C6C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01258-1FC1-B40A-E880-C7AE4F8E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8FA1C-85ED-4D37-28EB-859D7925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8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2EC6-69F3-5DC4-01A0-C21F4FAB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FA2E1-93C8-BDF4-5F58-4F2D0126E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634AE-7FAB-A23B-CD47-11FB66767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83004-1D3E-96F9-48E2-97BC13B7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45447-7E70-8FE4-7201-5C0C1ACA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AA8AC-EAB4-C8DD-6335-5A69143B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89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ACA5F-1DBD-5748-1F5B-A7C86D40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DC060-CC87-2ABE-BF54-94B51F712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82939-A416-E3F9-CFC0-440D4AE02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B39EE2-ABAB-A008-4708-22642B14B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342B46-3DE7-556B-3414-96D83288F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0B6394-100F-7429-C098-EB096F7C2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59623-2AAB-30FE-2D87-1FD6BD68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CA815-F691-73AC-23A3-9A99FF1F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96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D18D-7B05-A224-57B8-F6E5DE9F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2A561-7F3C-B5F5-D0F3-8C54DBB1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1E3D5-5D92-97D7-808E-E8A0CDB6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2FF13-AF91-5865-8038-010E9026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05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3EF8E2-B45D-511D-F4A0-817BC1D8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E48B5-2B72-D0DC-EECE-43DFB053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BBFFD-3EB6-37B7-A950-0AD88C435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524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E8C8-1BD7-B24D-BFB6-7543EE1D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31100-50A0-9BCB-81E1-0D2E1965D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CF66B-5BBF-16F7-18C4-6543D8596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28812-71BD-C8E3-60A8-F5A7FDC4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AFB12-72CA-66B9-4A9D-C9BAAC14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F2316-50FF-1E6A-D142-FEF45095B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89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3AC5-0548-EE82-9583-B6E5A1688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40D1F-080B-F585-C8B2-705F8C659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68765-EC46-88A6-857D-2FEC0FE7F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47B74-95C6-C9D2-78EB-E731829A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6F037-180E-D441-BF66-3F69FB13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BA1AF-D0F8-9699-2C06-AC0EE291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91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2AF9-7057-0550-9F21-0193EC1F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0CBD3-9E54-BBA5-6715-9AAE6BC4F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C0B9A-EC83-0804-F2A6-0E61273C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EB7FC-99D3-72D1-CA5B-ECE20DAB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81085-E760-78CD-DC94-E07CB172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2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FD5B5-6395-544A-FE5D-AA4CE7325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5B690-27DA-0AF5-C157-ADE7291B0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9FC2C-89E0-39C9-9D49-2669CD62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2229F-C79A-D973-5F6C-0D344A1C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7F707-02A1-0FFA-3D25-DA6492F7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83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74489A-1420-EFA8-0F76-B5A797947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163A1-B59C-5F78-6518-CE139D091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F57F0-FFB0-8F6D-32FF-AD0FEE23C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12F7A-DF84-4D7D-AC7E-7E142713AD3D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FF6F3-A70B-31AE-3CE2-90749F40E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CB16-B65F-5434-71C8-E9B8C3E8F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5DD71-6FF3-428A-AF1A-29EA53EE8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46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4177C-594A-5857-11C7-7990CC13D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Financial Challenges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32260-2804-5CC6-CB63-8A111DDE4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/>
              <a:t>Slim profit margins, especially for global volunteer program, which makes up the bulk of the exchanges (20,200 in 2025). 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2400"/>
              <a:t>Little room for </a:t>
            </a:r>
            <a:r>
              <a:rPr lang="en-US" sz="2400" err="1"/>
              <a:t>manoeuvre</a:t>
            </a:r>
            <a:r>
              <a:rPr lang="en-US" sz="2400"/>
              <a:t> regarding unexpected costs.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2400"/>
              <a:t>Low profit margins mean less investment and slower expansion.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2400"/>
              <a:t>Other costs not factored in aside from cost to deliver programs.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/>
              <a:t>Actual collected revenue consistently significantly lower than expected revenue.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2400"/>
              <a:t>Unreliable revenue streams could cause problems for predictability, putting off investors.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2400"/>
              <a:t>Limited financial reserves create financial risk.</a:t>
            </a:r>
          </a:p>
        </p:txBody>
      </p:sp>
    </p:spTree>
    <p:extLst>
      <p:ext uri="{BB962C8B-B14F-4D97-AF65-F5344CB8AC3E}">
        <p14:creationId xmlns:p14="http://schemas.microsoft.com/office/powerpoint/2010/main" val="192836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8C9F0-ADB3-C2DC-C9AD-FDBDB2764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Financial Sustainability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7E49B-7269-432B-AA57-E35FCF760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900"/>
              <a:t>Faster growth in Europe (3%), Asia Pacific (8%), and Africa (15%) compared to Americas (-2%), affecting economies of scale and thus profit margins. Higher growth rate improves sustainability, as does volume, which is highest in Asia Pacific.</a:t>
            </a:r>
          </a:p>
          <a:p>
            <a:r>
              <a:rPr lang="en-GB" sz="1900"/>
              <a:t>Implementing price discrimination (higher fees in more developed countries) could lead to more members especially in less developed countries, as £28 is much more affordable in some regions compared to others. </a:t>
            </a:r>
          </a:p>
          <a:p>
            <a:r>
              <a:rPr lang="en-GB" sz="1900"/>
              <a:t>Implement a donation system for those who are willing to contribute more.</a:t>
            </a:r>
          </a:p>
          <a:p>
            <a:r>
              <a:rPr lang="en-GB" sz="1900"/>
              <a:t>Increase marketing spend (viral marketing, partnerships and endorsements), improving the exposure of the organization globally.</a:t>
            </a:r>
          </a:p>
          <a:p>
            <a:r>
              <a:rPr lang="en-GB" sz="1900"/>
              <a:t>Build financial reserves to protect against financial shocks.</a:t>
            </a:r>
          </a:p>
          <a:p>
            <a:r>
              <a:rPr lang="en-GB" sz="1900"/>
              <a:t>Prioritise non-volunteer exchanges with higher profit margins.</a:t>
            </a:r>
          </a:p>
        </p:txBody>
      </p:sp>
    </p:spTree>
    <p:extLst>
      <p:ext uri="{BB962C8B-B14F-4D97-AF65-F5344CB8AC3E}">
        <p14:creationId xmlns:p14="http://schemas.microsoft.com/office/powerpoint/2010/main" val="76235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8032A-40FB-30C9-2489-9E3EC24D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Financials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7FCF90-6003-4C39-7B48-927F8256A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51729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662329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49769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374770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70071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Total revenue (GBP)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Total expenses (GBP)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Surplus / Deficit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9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11,482,650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10,398,450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1,084,200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31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13,585,900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12,326,700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1,259,200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29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12,369,300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11,105,900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1,263,400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671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13,928,100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12,551,300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1,376,800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2354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1A11F7-8FA4-A687-20F0-C447AC623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030134"/>
              </p:ext>
            </p:extLst>
          </p:nvPr>
        </p:nvGraphicFramePr>
        <p:xfrm>
          <a:off x="838200" y="3814762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404313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270729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866987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84671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Total revenue (GBP)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Total expenses (GBP)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Surplus/deficit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33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13,850,000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1,150,000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05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15,900,000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14,650,000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1,250,000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257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16,850,000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15,550,000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1,300,000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7623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FB41623-84C5-8CD8-D666-76ECB71B116B}"/>
              </a:ext>
            </a:extLst>
          </p:cNvPr>
          <p:cNvSpPr txBox="1"/>
          <p:nvPr/>
        </p:nvSpPr>
        <p:spPr>
          <a:xfrm>
            <a:off x="838200" y="5786438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 Assumptions: fees charged and cost to deliver stay the same; exchange volumes as follows: Europe (7,172 for 2026, 7,387 for 2027, 7,608 for 2028), AP (10,416 in 2026, 11,249 in 2027, 12,149 in 2028), </a:t>
            </a:r>
            <a:r>
              <a:rPr lang="en-GB" err="1"/>
              <a:t>Af</a:t>
            </a:r>
            <a:r>
              <a:rPr lang="en-GB"/>
              <a:t> (4,589 in 2026, 5,277 in 2027, 6,069 in 2028), Am (6,118 in 2026, 5,995 in 2027, 5,875 in 2028); AGR 8.47%</a:t>
            </a:r>
          </a:p>
        </p:txBody>
      </p:sp>
    </p:spTree>
    <p:extLst>
      <p:ext uri="{BB962C8B-B14F-4D97-AF65-F5344CB8AC3E}">
        <p14:creationId xmlns:p14="http://schemas.microsoft.com/office/powerpoint/2010/main" val="87669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E3F61-C147-32D7-3FB9-45DE00D2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Solution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96592-E870-277E-08E0-CBC0091E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571" y="2047164"/>
            <a:ext cx="10918208" cy="45162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900"/>
              <a:t>Price discrimination should be implemented first as it deals directly with the challenge of revenues not being collected due to financial constraints.</a:t>
            </a:r>
          </a:p>
          <a:p>
            <a:r>
              <a:rPr lang="en-GB" sz="1900"/>
              <a:t>Donation system should be easy to implement and can act as an additional revenue source.</a:t>
            </a:r>
          </a:p>
          <a:p>
            <a:r>
              <a:rPr lang="en-GB" sz="1900"/>
              <a:t>Building financial reserves should occur gradually with a small proportion of profits being stored away over time.</a:t>
            </a:r>
          </a:p>
          <a:p>
            <a:r>
              <a:rPr lang="en-GB" sz="1900"/>
              <a:t>Rebalancing away from volunteer exchanges will take longer as it is limited by demand.</a:t>
            </a:r>
          </a:p>
          <a:p>
            <a:r>
              <a:rPr lang="en-GB" sz="1900"/>
              <a:t>Marketing strategy implementation depends on current strategy as we do not know all the details, though partnership strategy seems to have been well explored.</a:t>
            </a:r>
          </a:p>
          <a:p>
            <a:r>
              <a:rPr lang="en-GB" sz="1900"/>
              <a:t>Did not have time for financial impact but would have calculated using expected revenues with regional exchange growth rates and average membership fee growth rate applied.</a:t>
            </a:r>
          </a:p>
          <a:p>
            <a:r>
              <a:rPr lang="en-GB" sz="1900"/>
              <a:t>Assumptions based on uniform growth rates are unrealistic given the multitude of factors that affect the financial metrics.</a:t>
            </a:r>
          </a:p>
          <a:p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1587195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477515E41B99419FD0FB541E90248C" ma:contentTypeVersion="5" ma:contentTypeDescription="Create a new document." ma:contentTypeScope="" ma:versionID="6fd8b364c072dab00bbaf1a82f259c76">
  <xsd:schema xmlns:xsd="http://www.w3.org/2001/XMLSchema" xmlns:xs="http://www.w3.org/2001/XMLSchema" xmlns:p="http://schemas.microsoft.com/office/2006/metadata/properties" xmlns:ns3="51823d90-3b7f-47ca-a6ba-4f80abc61d86" targetNamespace="http://schemas.microsoft.com/office/2006/metadata/properties" ma:root="true" ma:fieldsID="5bbfcad0244fa3bb624ad9a04b333283" ns3:_="">
    <xsd:import namespace="51823d90-3b7f-47ca-a6ba-4f80abc61d8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23d90-3b7f-47ca-a6ba-4f80abc61d8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1823d90-3b7f-47ca-a6ba-4f80abc61d86" xsi:nil="true"/>
  </documentManagement>
</p:properties>
</file>

<file path=customXml/itemProps1.xml><?xml version="1.0" encoding="utf-8"?>
<ds:datastoreItem xmlns:ds="http://schemas.openxmlformats.org/officeDocument/2006/customXml" ds:itemID="{791690EA-BAD6-4886-B76A-5D3A36E2AB28}">
  <ds:schemaRefs>
    <ds:schemaRef ds:uri="51823d90-3b7f-47ca-a6ba-4f80abc61d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9E7D99A-EE6E-4920-826B-72318FBAF4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78279E-1B01-45AD-9659-ACB824A1BA79}">
  <ds:schemaRefs>
    <ds:schemaRef ds:uri="51823d90-3b7f-47ca-a6ba-4f80abc61d8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Key Financial Challenges</vt:lpstr>
      <vt:lpstr>Financial Sustainability</vt:lpstr>
      <vt:lpstr>Financials</vt:lpstr>
      <vt:lpstr>Solution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Aleksei Mikhaylov</dc:creator>
  <cp:revision>2</cp:revision>
  <dcterms:created xsi:type="dcterms:W3CDTF">2026-03-24T18:52:20Z</dcterms:created>
  <dcterms:modified xsi:type="dcterms:W3CDTF">2026-03-26T16:15:42Z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0x0101003B477515E41B99419FD0FB541E90248C</vt:lpwstr>
  </property>
</Properties>
</file>