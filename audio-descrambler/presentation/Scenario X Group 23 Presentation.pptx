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4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4CF21F-F171-4ECD-B30F-10E75FD9C35B}" type="datetimeFigureOut">
              <a:rPr lang="en-GB" smtClean="0"/>
              <a:t>15/12/2023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DB3E24-7ABA-4DEC-AFB8-F4F0C9C8A652}"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11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CF21F-F171-4ECD-B30F-10E75FD9C35B}" type="datetimeFigureOut">
              <a:rPr lang="en-GB" smtClean="0"/>
              <a:t>15/12/2023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2659608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4CF21F-F171-4ECD-B30F-10E75FD9C35B}" type="datetimeFigureOut">
              <a:rPr lang="en-GB" smtClean="0"/>
              <a:t>15/12/2023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DB3E24-7ABA-4DEC-AFB8-F4F0C9C8A652}"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34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4CF21F-F171-4ECD-B30F-10E75FD9C35B}" type="datetimeFigureOut">
              <a:rPr lang="en-GB" smtClean="0"/>
              <a:t>15/12/2023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2175266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4CF21F-F171-4ECD-B30F-10E75FD9C35B}" type="datetimeFigureOut">
              <a:rPr lang="en-GB" smtClean="0"/>
              <a:t>15/12/2023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2346331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4CF21F-F171-4ECD-B30F-10E75FD9C35B}" type="datetimeFigureOut">
              <a:rPr lang="en-GB" smtClean="0"/>
              <a:t>15/12/2023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2632400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E4CF21F-F171-4ECD-B30F-10E75FD9C35B}" type="datetimeFigureOut">
              <a:rPr lang="en-GB" smtClean="0"/>
              <a:t>15/12/2023</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158112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E4CF21F-F171-4ECD-B30F-10E75FD9C35B}" type="datetimeFigureOut">
              <a:rPr lang="en-GB" smtClean="0"/>
              <a:t>15/12/2023</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3DB3E24-7ABA-4DEC-AFB8-F4F0C9C8A652}" type="slidenum">
              <a:rPr lang="en-GB" smtClean="0"/>
              <a:t>‹#›</a:t>
            </a:fld>
            <a:endParaRPr lang="en-GB"/>
          </a:p>
        </p:txBody>
      </p:sp>
    </p:spTree>
    <p:extLst>
      <p:ext uri="{BB962C8B-B14F-4D97-AF65-F5344CB8AC3E}">
        <p14:creationId xmlns:p14="http://schemas.microsoft.com/office/powerpoint/2010/main" val="3332998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4CF21F-F171-4ECD-B30F-10E75FD9C35B}" type="datetimeFigureOut">
              <a:rPr lang="en-GB" smtClean="0"/>
              <a:t>15/12/2023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1252378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CF21F-F171-4ECD-B30F-10E75FD9C35B}" type="datetimeFigureOut">
              <a:rPr lang="en-GB" smtClean="0"/>
              <a:t>15/12/2023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1275382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CF21F-F171-4ECD-B30F-10E75FD9C35B}" type="datetimeFigureOut">
              <a:rPr lang="en-GB" smtClean="0"/>
              <a:t>15/12/2023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DB3E24-7ABA-4DEC-AFB8-F4F0C9C8A652}" type="slidenum">
              <a:rPr lang="en-GB" smtClean="0"/>
              <a:t>‹#›</a:t>
            </a:fld>
            <a:endParaRPr lang="en-GB"/>
          </a:p>
        </p:txBody>
      </p:sp>
    </p:spTree>
    <p:extLst>
      <p:ext uri="{BB962C8B-B14F-4D97-AF65-F5344CB8AC3E}">
        <p14:creationId xmlns:p14="http://schemas.microsoft.com/office/powerpoint/2010/main" val="92869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E4CF21F-F171-4ECD-B30F-10E75FD9C35B}" type="datetimeFigureOut">
              <a:rPr lang="en-GB" smtClean="0"/>
              <a:t>15/12/2023</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3DB3E24-7ABA-4DEC-AFB8-F4F0C9C8A652}"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096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analog.com/designtools/en/filterwizard/"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37B2-0376-2F9B-ADE8-12991A34F604}"/>
              </a:ext>
            </a:extLst>
          </p:cNvPr>
          <p:cNvSpPr>
            <a:spLocks noGrp="1"/>
          </p:cNvSpPr>
          <p:nvPr>
            <p:ph type="ctrTitle"/>
          </p:nvPr>
        </p:nvSpPr>
        <p:spPr/>
        <p:txBody>
          <a:bodyPr/>
          <a:lstStyle/>
          <a:p>
            <a:r>
              <a:rPr lang="en-GB" dirty="0"/>
              <a:t>Scenario X Group 23</a:t>
            </a:r>
          </a:p>
        </p:txBody>
      </p:sp>
      <p:sp>
        <p:nvSpPr>
          <p:cNvPr id="3" name="Subtitle 2">
            <a:extLst>
              <a:ext uri="{FF2B5EF4-FFF2-40B4-BE49-F238E27FC236}">
                <a16:creationId xmlns:a16="http://schemas.microsoft.com/office/drawing/2014/main" id="{5686F06D-6C93-D216-68B9-6EF59A246918}"/>
              </a:ext>
            </a:extLst>
          </p:cNvPr>
          <p:cNvSpPr>
            <a:spLocks noGrp="1"/>
          </p:cNvSpPr>
          <p:nvPr>
            <p:ph type="subTitle" idx="1"/>
          </p:nvPr>
        </p:nvSpPr>
        <p:spPr/>
        <p:txBody>
          <a:bodyPr/>
          <a:lstStyle/>
          <a:p>
            <a:r>
              <a:rPr lang="en-GB" dirty="0"/>
              <a:t>Zheyang Zheng, Yuncheng Fu, Jeremy Man &amp; Nikolaos Mitsokapas</a:t>
            </a:r>
          </a:p>
        </p:txBody>
      </p:sp>
    </p:spTree>
    <p:extLst>
      <p:ext uri="{BB962C8B-B14F-4D97-AF65-F5344CB8AC3E}">
        <p14:creationId xmlns:p14="http://schemas.microsoft.com/office/powerpoint/2010/main" val="2519501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1CC1F-1576-A825-6947-A277A31FF767}"/>
              </a:ext>
            </a:extLst>
          </p:cNvPr>
          <p:cNvSpPr>
            <a:spLocks noGrp="1"/>
          </p:cNvSpPr>
          <p:nvPr>
            <p:ph type="title"/>
          </p:nvPr>
        </p:nvSpPr>
        <p:spPr/>
        <p:txBody>
          <a:bodyPr/>
          <a:lstStyle/>
          <a:p>
            <a:r>
              <a:rPr lang="en-GB" dirty="0"/>
              <a:t>Components involved in the Audio Descrambler</a:t>
            </a:r>
          </a:p>
        </p:txBody>
      </p:sp>
      <p:sp>
        <p:nvSpPr>
          <p:cNvPr id="3" name="Content Placeholder 2">
            <a:extLst>
              <a:ext uri="{FF2B5EF4-FFF2-40B4-BE49-F238E27FC236}">
                <a16:creationId xmlns:a16="http://schemas.microsoft.com/office/drawing/2014/main" id="{C9071A02-240E-8002-9215-BA561E28EF0F}"/>
              </a:ext>
            </a:extLst>
          </p:cNvPr>
          <p:cNvSpPr>
            <a:spLocks noGrp="1"/>
          </p:cNvSpPr>
          <p:nvPr>
            <p:ph idx="1"/>
          </p:nvPr>
        </p:nvSpPr>
        <p:spPr>
          <a:xfrm>
            <a:off x="985421" y="1845734"/>
            <a:ext cx="10170259" cy="4023360"/>
          </a:xfrm>
        </p:spPr>
        <p:txBody>
          <a:bodyPr/>
          <a:lstStyle/>
          <a:p>
            <a:pPr>
              <a:buFont typeface="Wingdings" panose="05000000000000000000" pitchFamily="2" charset="2"/>
              <a:buChar char="§"/>
            </a:pPr>
            <a:r>
              <a:rPr lang="en-GB" dirty="0"/>
              <a:t>Analogue-to-Digital Converter (ADC)</a:t>
            </a:r>
          </a:p>
          <a:p>
            <a:pPr>
              <a:buFont typeface="Wingdings" panose="05000000000000000000" pitchFamily="2" charset="2"/>
              <a:buChar char="§"/>
            </a:pPr>
            <a:r>
              <a:rPr lang="en-GB" dirty="0"/>
              <a:t>8kHz Digital Band-stop Filter</a:t>
            </a:r>
          </a:p>
          <a:p>
            <a:pPr>
              <a:buFont typeface="Wingdings" panose="05000000000000000000" pitchFamily="2" charset="2"/>
              <a:buChar char="§"/>
            </a:pPr>
            <a:r>
              <a:rPr lang="en-GB" dirty="0"/>
              <a:t>7 kHz sine wave</a:t>
            </a:r>
          </a:p>
          <a:p>
            <a:pPr>
              <a:buFont typeface="Wingdings" panose="05000000000000000000" pitchFamily="2" charset="2"/>
              <a:buChar char="§"/>
            </a:pPr>
            <a:r>
              <a:rPr lang="en-GB" dirty="0"/>
              <a:t>Digital-to-Analogue Converter (DAC)</a:t>
            </a:r>
          </a:p>
          <a:p>
            <a:pPr>
              <a:buFont typeface="Wingdings" panose="05000000000000000000" pitchFamily="2" charset="2"/>
              <a:buChar char="§"/>
            </a:pPr>
            <a:r>
              <a:rPr lang="en-GB" dirty="0"/>
              <a:t>5 kHz cutoff Low-pass Filter</a:t>
            </a:r>
          </a:p>
          <a:p>
            <a:pPr>
              <a:buFont typeface="Wingdings" panose="05000000000000000000" pitchFamily="2" charset="2"/>
              <a:buChar char="§"/>
            </a:pPr>
            <a:endParaRPr lang="en-GB" dirty="0"/>
          </a:p>
        </p:txBody>
      </p:sp>
      <p:pic>
        <p:nvPicPr>
          <p:cNvPr id="5" name="Picture 4">
            <a:extLst>
              <a:ext uri="{FF2B5EF4-FFF2-40B4-BE49-F238E27FC236}">
                <a16:creationId xmlns:a16="http://schemas.microsoft.com/office/drawing/2014/main" id="{B99454C5-73E5-FB1E-AFCB-B42B4D3401C2}"/>
              </a:ext>
            </a:extLst>
          </p:cNvPr>
          <p:cNvPicPr>
            <a:picLocks noChangeAspect="1"/>
          </p:cNvPicPr>
          <p:nvPr/>
        </p:nvPicPr>
        <p:blipFill>
          <a:blip r:embed="rId2"/>
          <a:stretch>
            <a:fillRect/>
          </a:stretch>
        </p:blipFill>
        <p:spPr>
          <a:xfrm>
            <a:off x="4967085" y="2245827"/>
            <a:ext cx="6488721" cy="2528324"/>
          </a:xfrm>
          <a:prstGeom prst="rect">
            <a:avLst/>
          </a:prstGeom>
        </p:spPr>
      </p:pic>
    </p:spTree>
    <p:extLst>
      <p:ext uri="{BB962C8B-B14F-4D97-AF65-F5344CB8AC3E}">
        <p14:creationId xmlns:p14="http://schemas.microsoft.com/office/powerpoint/2010/main" val="3948340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04BE5-67BD-012D-ADBE-B0E1DA936329}"/>
              </a:ext>
            </a:extLst>
          </p:cNvPr>
          <p:cNvSpPr>
            <a:spLocks noGrp="1"/>
          </p:cNvSpPr>
          <p:nvPr>
            <p:ph type="title"/>
          </p:nvPr>
        </p:nvSpPr>
        <p:spPr/>
        <p:txBody>
          <a:bodyPr/>
          <a:lstStyle/>
          <a:p>
            <a:r>
              <a:rPr lang="en-GB" dirty="0"/>
              <a:t>ADC</a:t>
            </a:r>
          </a:p>
        </p:txBody>
      </p:sp>
      <p:sp>
        <p:nvSpPr>
          <p:cNvPr id="3" name="Content Placeholder 2">
            <a:extLst>
              <a:ext uri="{FF2B5EF4-FFF2-40B4-BE49-F238E27FC236}">
                <a16:creationId xmlns:a16="http://schemas.microsoft.com/office/drawing/2014/main" id="{E654F738-3D9F-3944-090E-2CE46159DE61}"/>
              </a:ext>
            </a:extLst>
          </p:cNvPr>
          <p:cNvSpPr>
            <a:spLocks noGrp="1"/>
          </p:cNvSpPr>
          <p:nvPr>
            <p:ph idx="1"/>
          </p:nvPr>
        </p:nvSpPr>
        <p:spPr/>
        <p:txBody>
          <a:bodyPr/>
          <a:lstStyle/>
          <a:p>
            <a:pPr>
              <a:buFont typeface="Wingdings" panose="05000000000000000000" pitchFamily="2" charset="2"/>
              <a:buChar char="§"/>
            </a:pPr>
            <a:r>
              <a:rPr lang="en-GB" sz="1600" dirty="0"/>
              <a:t>Connect the analogue audio signal input to the ADC pins (which were specified in Quartus Prime) on the DE0 Nano FPGA board to interface ADC with the FPGA.</a:t>
            </a:r>
          </a:p>
          <a:p>
            <a:pPr>
              <a:buFont typeface="Wingdings" panose="05000000000000000000" pitchFamily="2" charset="2"/>
              <a:buChar char="§"/>
            </a:pPr>
            <a:r>
              <a:rPr lang="en-GB" sz="1600" dirty="0"/>
              <a:t>Develop a HDL code using Verilog.</a:t>
            </a:r>
          </a:p>
          <a:p>
            <a:pPr>
              <a:buFont typeface="Wingdings" panose="05000000000000000000" pitchFamily="2" charset="2"/>
              <a:buChar char="§"/>
            </a:pPr>
            <a:r>
              <a:rPr lang="en-GB" sz="1600" dirty="0"/>
              <a:t>Utilised SPI to interact with the ADC.</a:t>
            </a:r>
          </a:p>
          <a:p>
            <a:pPr>
              <a:buFont typeface="Wingdings" panose="05000000000000000000" pitchFamily="2" charset="2"/>
              <a:buChar char="§"/>
            </a:pPr>
            <a:r>
              <a:rPr lang="en-GB" sz="1600" dirty="0"/>
              <a:t>The DE0 Nano board functions only with digital signals. Includes advantages such as signal integrity since digital signals are less prone to noise and interference.</a:t>
            </a:r>
          </a:p>
          <a:p>
            <a:pPr>
              <a:buFont typeface="Wingdings" panose="05000000000000000000" pitchFamily="2" charset="2"/>
              <a:buChar char="§"/>
            </a:pPr>
            <a:r>
              <a:rPr lang="en-GB" sz="1600" dirty="0"/>
              <a:t>Summary: Efficient signal processing and compatible with digital nature of FPGA board.</a:t>
            </a:r>
          </a:p>
          <a:p>
            <a:endParaRPr lang="en-GB" dirty="0"/>
          </a:p>
          <a:p>
            <a:endParaRPr lang="en-GB" dirty="0"/>
          </a:p>
        </p:txBody>
      </p:sp>
    </p:spTree>
    <p:extLst>
      <p:ext uri="{BB962C8B-B14F-4D97-AF65-F5344CB8AC3E}">
        <p14:creationId xmlns:p14="http://schemas.microsoft.com/office/powerpoint/2010/main" val="2999506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6F152-A2E7-794C-1367-8076751F3B6A}"/>
              </a:ext>
            </a:extLst>
          </p:cNvPr>
          <p:cNvSpPr>
            <a:spLocks noGrp="1"/>
          </p:cNvSpPr>
          <p:nvPr>
            <p:ph type="title"/>
          </p:nvPr>
        </p:nvSpPr>
        <p:spPr/>
        <p:txBody>
          <a:bodyPr/>
          <a:lstStyle/>
          <a:p>
            <a:r>
              <a:rPr lang="en-GB" dirty="0"/>
              <a:t>8 kHz Band-stop Filter</a:t>
            </a:r>
          </a:p>
        </p:txBody>
      </p:sp>
      <p:sp>
        <p:nvSpPr>
          <p:cNvPr id="3" name="Content Placeholder 2">
            <a:extLst>
              <a:ext uri="{FF2B5EF4-FFF2-40B4-BE49-F238E27FC236}">
                <a16:creationId xmlns:a16="http://schemas.microsoft.com/office/drawing/2014/main" id="{BB069D7F-83CA-179F-32FC-F429B942341E}"/>
              </a:ext>
            </a:extLst>
          </p:cNvPr>
          <p:cNvSpPr>
            <a:spLocks noGrp="1"/>
          </p:cNvSpPr>
          <p:nvPr>
            <p:ph idx="1"/>
          </p:nvPr>
        </p:nvSpPr>
        <p:spPr/>
        <p:txBody>
          <a:bodyPr>
            <a:normAutofit/>
          </a:bodyPr>
          <a:lstStyle/>
          <a:p>
            <a:pPr>
              <a:buFont typeface="Wingdings" panose="05000000000000000000" pitchFamily="2" charset="2"/>
              <a:buChar char="§"/>
            </a:pPr>
            <a:r>
              <a:rPr lang="en-GB" sz="1600" dirty="0"/>
              <a:t>The scrambled audio signal contained the highest power at 8 kHz. This was one of the scrambling methods which disallowed us to hear the audio message. To remove the 8 kHz tone, we designed and implemented an 8 kHz band-stop filter in “filterDesigner” in MATLAB. </a:t>
            </a:r>
          </a:p>
          <a:p>
            <a:pPr>
              <a:buFont typeface="Wingdings" panose="05000000000000000000" pitchFamily="2" charset="2"/>
              <a:buChar char="§"/>
            </a:pPr>
            <a:r>
              <a:rPr lang="en-GB" sz="1600" dirty="0"/>
              <a:t>We chose the Finite Impulse Response (FIR) band-stop filter because it offers greater stability, despite requiring more resources in the FPGA.</a:t>
            </a:r>
          </a:p>
          <a:p>
            <a:pPr>
              <a:buFont typeface="Wingdings" panose="05000000000000000000" pitchFamily="2" charset="2"/>
              <a:buChar char="§"/>
            </a:pPr>
            <a:r>
              <a:rPr lang="en-GB" sz="1600" dirty="0"/>
              <a:t>The digitised signal is then fed to the FIR band-stop filter.</a:t>
            </a:r>
          </a:p>
        </p:txBody>
      </p:sp>
    </p:spTree>
    <p:extLst>
      <p:ext uri="{BB962C8B-B14F-4D97-AF65-F5344CB8AC3E}">
        <p14:creationId xmlns:p14="http://schemas.microsoft.com/office/powerpoint/2010/main" val="1476364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7CD6-E9EB-044E-D7E5-FF495EA085BB}"/>
              </a:ext>
            </a:extLst>
          </p:cNvPr>
          <p:cNvSpPr>
            <a:spLocks noGrp="1"/>
          </p:cNvSpPr>
          <p:nvPr>
            <p:ph type="title"/>
          </p:nvPr>
        </p:nvSpPr>
        <p:spPr/>
        <p:txBody>
          <a:bodyPr/>
          <a:lstStyle/>
          <a:p>
            <a:r>
              <a:rPr lang="en-GB" dirty="0"/>
              <a:t>7 kHz sine wave</a:t>
            </a:r>
          </a:p>
        </p:txBody>
      </p:sp>
      <p:sp>
        <p:nvSpPr>
          <p:cNvPr id="3" name="Content Placeholder 2">
            <a:extLst>
              <a:ext uri="{FF2B5EF4-FFF2-40B4-BE49-F238E27FC236}">
                <a16:creationId xmlns:a16="http://schemas.microsoft.com/office/drawing/2014/main" id="{FEE20646-AF14-1EB6-7D0C-7F133B2F35FD}"/>
              </a:ext>
            </a:extLst>
          </p:cNvPr>
          <p:cNvSpPr>
            <a:spLocks noGrp="1"/>
          </p:cNvSpPr>
          <p:nvPr>
            <p:ph idx="1"/>
          </p:nvPr>
        </p:nvSpPr>
        <p:spPr/>
        <p:txBody>
          <a:bodyPr>
            <a:normAutofit/>
          </a:bodyPr>
          <a:lstStyle/>
          <a:p>
            <a:pPr>
              <a:buFont typeface="Wingdings" panose="05000000000000000000" pitchFamily="2" charset="2"/>
              <a:buChar char="§"/>
            </a:pPr>
            <a:r>
              <a:rPr lang="en-GB" sz="1600" dirty="0"/>
              <a:t>The scrambled audio signal was flipped around 3.5 kHz. Multiplying the incoming digitised signal with a 7 kHz sine wave, in the time domain, will cause convolution in the frequency domain.</a:t>
            </a:r>
          </a:p>
          <a:p>
            <a:pPr>
              <a:buFont typeface="Wingdings" panose="05000000000000000000" pitchFamily="2" charset="2"/>
              <a:buChar char="§"/>
            </a:pPr>
            <a:r>
              <a:rPr lang="en-GB" sz="1600" dirty="0"/>
              <a:t>In the time domain this process is called Amplitude Modulating (AM). In the frequency domain it will include the sum and difference of the carrier (sine wave) and audio signal frequencies, therefore, resulting in sidebands. The upper sideband is located at the sum of the frequencies (7 kHz + frequencies of the flipped audio signal). The flipped audio signal from frequencies &lt;3.5 kHz is shifted to frequencies &gt;3.5 kHz. The upper sideband signal is removed by inputting the signal to an external low-pass filter.</a:t>
            </a:r>
          </a:p>
        </p:txBody>
      </p:sp>
    </p:spTree>
    <p:extLst>
      <p:ext uri="{BB962C8B-B14F-4D97-AF65-F5344CB8AC3E}">
        <p14:creationId xmlns:p14="http://schemas.microsoft.com/office/powerpoint/2010/main" val="2258037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5B9F-3453-DBAA-F7A1-DBA90C6E5EF6}"/>
              </a:ext>
            </a:extLst>
          </p:cNvPr>
          <p:cNvSpPr>
            <a:spLocks noGrp="1"/>
          </p:cNvSpPr>
          <p:nvPr>
            <p:ph type="title"/>
          </p:nvPr>
        </p:nvSpPr>
        <p:spPr/>
        <p:txBody>
          <a:bodyPr/>
          <a:lstStyle/>
          <a:p>
            <a:r>
              <a:rPr lang="en-GB" dirty="0"/>
              <a:t>DAC</a:t>
            </a:r>
          </a:p>
        </p:txBody>
      </p:sp>
      <p:sp>
        <p:nvSpPr>
          <p:cNvPr id="3" name="Content Placeholder 2">
            <a:extLst>
              <a:ext uri="{FF2B5EF4-FFF2-40B4-BE49-F238E27FC236}">
                <a16:creationId xmlns:a16="http://schemas.microsoft.com/office/drawing/2014/main" id="{AFD3F6C2-BA59-CBB3-2FF5-1F7BC5313901}"/>
              </a:ext>
            </a:extLst>
          </p:cNvPr>
          <p:cNvSpPr>
            <a:spLocks noGrp="1"/>
          </p:cNvSpPr>
          <p:nvPr>
            <p:ph idx="1"/>
          </p:nvPr>
        </p:nvSpPr>
        <p:spPr/>
        <p:txBody>
          <a:bodyPr>
            <a:normAutofit/>
          </a:bodyPr>
          <a:lstStyle/>
          <a:p>
            <a:pPr>
              <a:buFont typeface="Wingdings" panose="05000000000000000000" pitchFamily="2" charset="2"/>
              <a:buChar char="§"/>
            </a:pPr>
            <a:r>
              <a:rPr lang="en-GB" sz="1600" dirty="0"/>
              <a:t>Before inputting the signal to a low-pass filter the digitised, modulated signal is converted back to an analogue signal. The signal is required to be in analogue form to apply a low-pass filter to it. The DAC used was a R-2R Ladder DAC.</a:t>
            </a:r>
          </a:p>
          <a:p>
            <a:pPr>
              <a:buFont typeface="Wingdings" panose="05000000000000000000" pitchFamily="2" charset="2"/>
              <a:buChar char="§"/>
            </a:pPr>
            <a:r>
              <a:rPr lang="en-GB" sz="1600" dirty="0"/>
              <a:t>The output pins assigned from Quartus Prime to the FPGA board are inputted into the R-2R Ladder.</a:t>
            </a:r>
          </a:p>
          <a:p>
            <a:pPr>
              <a:lnSpc>
                <a:spcPct val="100000"/>
              </a:lnSpc>
              <a:buFont typeface="Wingdings" panose="05000000000000000000" pitchFamily="2" charset="2"/>
              <a:buChar char="§"/>
            </a:pPr>
            <a:r>
              <a:rPr lang="en-GB" sz="1600" dirty="0"/>
              <a:t>The ladder is connected to the passive non-inverting input of the op-amp. </a:t>
            </a:r>
          </a:p>
          <a:p>
            <a:pPr>
              <a:lnSpc>
                <a:spcPct val="100000"/>
              </a:lnSpc>
              <a:buFont typeface="Wingdings" panose="05000000000000000000" pitchFamily="2" charset="2"/>
              <a:buChar char="§"/>
            </a:pPr>
            <a:r>
              <a:rPr lang="en-GB" sz="1600" dirty="0"/>
              <a:t>If there is anything wrong with the op-amp and the output hits the 15 V limit. However, the digital pins of the FPGA are not damaged with this configuration, since this voltage would have been fed back to them. This is because we use an op-amp voltage buffer which limits the output voltage from reaching 15 V.</a:t>
            </a:r>
          </a:p>
        </p:txBody>
      </p:sp>
      <p:pic>
        <p:nvPicPr>
          <p:cNvPr id="5" name="Picture 4">
            <a:extLst>
              <a:ext uri="{FF2B5EF4-FFF2-40B4-BE49-F238E27FC236}">
                <a16:creationId xmlns:a16="http://schemas.microsoft.com/office/drawing/2014/main" id="{865ABADA-7348-6A5D-9C63-9B1C245FBBE0}"/>
              </a:ext>
            </a:extLst>
          </p:cNvPr>
          <p:cNvPicPr>
            <a:picLocks noChangeAspect="1"/>
          </p:cNvPicPr>
          <p:nvPr/>
        </p:nvPicPr>
        <p:blipFill>
          <a:blip r:embed="rId2"/>
          <a:stretch>
            <a:fillRect/>
          </a:stretch>
        </p:blipFill>
        <p:spPr>
          <a:xfrm>
            <a:off x="3063170" y="4264832"/>
            <a:ext cx="9019312" cy="1604262"/>
          </a:xfrm>
          <a:prstGeom prst="rect">
            <a:avLst/>
          </a:prstGeom>
        </p:spPr>
      </p:pic>
    </p:spTree>
    <p:extLst>
      <p:ext uri="{BB962C8B-B14F-4D97-AF65-F5344CB8AC3E}">
        <p14:creationId xmlns:p14="http://schemas.microsoft.com/office/powerpoint/2010/main" val="3495401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6B47B-4835-47F3-D406-37703598053F}"/>
              </a:ext>
            </a:extLst>
          </p:cNvPr>
          <p:cNvSpPr>
            <a:spLocks noGrp="1"/>
          </p:cNvSpPr>
          <p:nvPr>
            <p:ph type="title"/>
          </p:nvPr>
        </p:nvSpPr>
        <p:spPr/>
        <p:txBody>
          <a:bodyPr/>
          <a:lstStyle/>
          <a:p>
            <a:r>
              <a:rPr lang="en-GB" dirty="0"/>
              <a:t>5 kHz Low-pass Filter</a:t>
            </a:r>
          </a:p>
        </p:txBody>
      </p:sp>
      <p:sp>
        <p:nvSpPr>
          <p:cNvPr id="3" name="Content Placeholder 2">
            <a:extLst>
              <a:ext uri="{FF2B5EF4-FFF2-40B4-BE49-F238E27FC236}">
                <a16:creationId xmlns:a16="http://schemas.microsoft.com/office/drawing/2014/main" id="{71F8375A-8302-C52F-F430-6C0CD92679C6}"/>
              </a:ext>
            </a:extLst>
          </p:cNvPr>
          <p:cNvSpPr>
            <a:spLocks noGrp="1"/>
          </p:cNvSpPr>
          <p:nvPr>
            <p:ph idx="1"/>
          </p:nvPr>
        </p:nvSpPr>
        <p:spPr/>
        <p:txBody>
          <a:bodyPr>
            <a:normAutofit/>
          </a:bodyPr>
          <a:lstStyle/>
          <a:p>
            <a:pPr>
              <a:buFont typeface="Wingdings" panose="05000000000000000000" pitchFamily="2" charset="2"/>
              <a:buChar char="§"/>
            </a:pPr>
            <a:r>
              <a:rPr lang="en-GB" sz="1600" dirty="0"/>
              <a:t>The low-pass filter was designed by using an online active filter design tool. (</a:t>
            </a:r>
            <a:r>
              <a:rPr lang="en-GB" sz="1600" dirty="0">
                <a:hlinkClick r:id="rId2"/>
              </a:rPr>
              <a:t>http://www.analog.com/designtools/en/filterwizard/</a:t>
            </a:r>
            <a:r>
              <a:rPr lang="en-GB" sz="1600" dirty="0"/>
              <a:t>)</a:t>
            </a:r>
          </a:p>
          <a:p>
            <a:pPr>
              <a:buFont typeface="Wingdings" panose="05000000000000000000" pitchFamily="2" charset="2"/>
              <a:buChar char="§"/>
            </a:pPr>
            <a:r>
              <a:rPr lang="en-GB" sz="1600" dirty="0"/>
              <a:t>We specified the necessary characteristics of the filter, to have the cut-off frequency at approximately 5 kHz to attenuate the upper sideband signal which was created by the sine wave modulation.</a:t>
            </a:r>
            <a:r>
              <a:rPr lang="el-GR" sz="1600" dirty="0"/>
              <a:t> </a:t>
            </a:r>
            <a:r>
              <a:rPr lang="en-US" sz="1600" dirty="0"/>
              <a:t>To improve the attenuation the slope must be greater. However, this would require more cascaded amplifiers which would require more breadboard space. </a:t>
            </a:r>
            <a:endParaRPr lang="en-GB" sz="1600" dirty="0"/>
          </a:p>
        </p:txBody>
      </p:sp>
      <p:pic>
        <p:nvPicPr>
          <p:cNvPr id="6" name="Picture 5">
            <a:extLst>
              <a:ext uri="{FF2B5EF4-FFF2-40B4-BE49-F238E27FC236}">
                <a16:creationId xmlns:a16="http://schemas.microsoft.com/office/drawing/2014/main" id="{5A1D0F83-852E-FFB1-EAF2-50353F6AFA37}"/>
              </a:ext>
            </a:extLst>
          </p:cNvPr>
          <p:cNvPicPr>
            <a:picLocks noChangeAspect="1"/>
          </p:cNvPicPr>
          <p:nvPr/>
        </p:nvPicPr>
        <p:blipFill>
          <a:blip r:embed="rId3"/>
          <a:stretch>
            <a:fillRect/>
          </a:stretch>
        </p:blipFill>
        <p:spPr>
          <a:xfrm>
            <a:off x="0" y="3525824"/>
            <a:ext cx="5753396" cy="2343270"/>
          </a:xfrm>
          <a:prstGeom prst="rect">
            <a:avLst/>
          </a:prstGeom>
        </p:spPr>
      </p:pic>
      <p:pic>
        <p:nvPicPr>
          <p:cNvPr id="9" name="Picture 8">
            <a:extLst>
              <a:ext uri="{FF2B5EF4-FFF2-40B4-BE49-F238E27FC236}">
                <a16:creationId xmlns:a16="http://schemas.microsoft.com/office/drawing/2014/main" id="{3777C865-6369-7D68-5F33-D85E909C027C}"/>
              </a:ext>
            </a:extLst>
          </p:cNvPr>
          <p:cNvPicPr>
            <a:picLocks noChangeAspect="1"/>
          </p:cNvPicPr>
          <p:nvPr/>
        </p:nvPicPr>
        <p:blipFill>
          <a:blip r:embed="rId4"/>
          <a:stretch>
            <a:fillRect/>
          </a:stretch>
        </p:blipFill>
        <p:spPr>
          <a:xfrm>
            <a:off x="5753396" y="3299566"/>
            <a:ext cx="6438604" cy="2968520"/>
          </a:xfrm>
          <a:prstGeom prst="rect">
            <a:avLst/>
          </a:prstGeom>
        </p:spPr>
      </p:pic>
    </p:spTree>
    <p:extLst>
      <p:ext uri="{BB962C8B-B14F-4D97-AF65-F5344CB8AC3E}">
        <p14:creationId xmlns:p14="http://schemas.microsoft.com/office/powerpoint/2010/main" val="94783308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119</TotalTime>
  <Words>592</Words>
  <Application>Microsoft Office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Calibri Light</vt:lpstr>
      <vt:lpstr>Wingdings</vt:lpstr>
      <vt:lpstr>Retrospect</vt:lpstr>
      <vt:lpstr>Scenario X Group 23</vt:lpstr>
      <vt:lpstr>Components involved in the Audio Descrambler</vt:lpstr>
      <vt:lpstr>ADC</vt:lpstr>
      <vt:lpstr>8 kHz Band-stop Filter</vt:lpstr>
      <vt:lpstr>7 kHz sine wave</vt:lpstr>
      <vt:lpstr>DAC</vt:lpstr>
      <vt:lpstr>5 kHz Low-pass Filter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X Group 23</dc:title>
  <dc:creator>Mitsokapas, Nikolas</dc:creator>
  <cp:lastModifiedBy>Mitsokapas, Nikolas</cp:lastModifiedBy>
  <cp:revision>8</cp:revision>
  <dcterms:created xsi:type="dcterms:W3CDTF">2023-12-14T13:26:05Z</dcterms:created>
  <dcterms:modified xsi:type="dcterms:W3CDTF">2023-12-15T14:35:35Z</dcterms:modified>
</cp:coreProperties>
</file>